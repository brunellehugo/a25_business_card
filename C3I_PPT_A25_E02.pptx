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9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4" r:id="rId6"/>
    <p:sldId id="261" r:id="rId7"/>
    <p:sldId id="273" r:id="rId8"/>
    <p:sldId id="275" r:id="rId9"/>
    <p:sldId id="276" r:id="rId10"/>
    <p:sldId id="318" r:id="rId11"/>
    <p:sldId id="311" r:id="rId12"/>
    <p:sldId id="313" r:id="rId13"/>
    <p:sldId id="314" r:id="rId14"/>
    <p:sldId id="315" r:id="rId15"/>
    <p:sldId id="316" r:id="rId16"/>
    <p:sldId id="317" r:id="rId17"/>
    <p:sldId id="319" r:id="rId18"/>
    <p:sldId id="312" r:id="rId19"/>
    <p:sldId id="29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F199375-70F8-4A22-91D5-3520715C6D32}">
          <p14:sldIdLst>
            <p14:sldId id="256"/>
            <p14:sldId id="274"/>
          </p14:sldIdLst>
        </p14:section>
        <p14:section name="SECTION 1" id="{7A37C132-B6A0-4B99-BF16-D318D3F1CA80}">
          <p14:sldIdLst>
            <p14:sldId id="261"/>
            <p14:sldId id="273"/>
            <p14:sldId id="275"/>
            <p14:sldId id="276"/>
            <p14:sldId id="318"/>
          </p14:sldIdLst>
        </p14:section>
        <p14:section name="SECTION 2" id="{E10EC373-6E99-40DD-A6D2-C8108FD0FC09}">
          <p14:sldIdLst>
            <p14:sldId id="311"/>
            <p14:sldId id="313"/>
            <p14:sldId id="314"/>
            <p14:sldId id="315"/>
            <p14:sldId id="316"/>
            <p14:sldId id="317"/>
            <p14:sldId id="319"/>
          </p14:sldIdLst>
        </p14:section>
        <p14:section name="À VOTRE TOUR!" id="{F0D774B6-1C62-4EBE-978F-228A63749D19}">
          <p14:sldIdLst>
            <p14:sldId id="312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2DF"/>
    <a:srgbClr val="BAC1B8"/>
    <a:srgbClr val="345903"/>
    <a:srgbClr val="447604"/>
    <a:srgbClr val="4CB3F2"/>
    <a:srgbClr val="FF6161"/>
    <a:srgbClr val="D2D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DE85E5-FC4B-9ACB-96EB-BBA1E50A13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67979-9E1B-C404-AF09-81D80DCEE1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969F3-F764-474D-AAB9-E42E8C1913FC}" type="datetimeFigureOut">
              <a:rPr lang="fr-CA" smtClean="0"/>
              <a:t>2026-01-04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9B599-B9BB-304D-E9CD-76D5A0720F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82668-6614-3E8E-5957-8E31BABC38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B1A73-B83F-4DE4-87DE-EB28A953DC1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30749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11376-7A79-4B35-A1E4-2EDD717BC2F7}" type="datetimeFigureOut">
              <a:rPr lang="fr-CA" smtClean="0"/>
              <a:t>2026-01-04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87B54-6420-4631-AB07-97EBBD03853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4728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D4BBD-C462-4EA3-8B50-F9AA56F78B7D}" type="datetime1">
              <a:rPr lang="fr-CA" smtClean="0"/>
              <a:t>2026-01-04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05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44F1-6EDD-4D3A-B23C-7E721026EE78}" type="datetime1">
              <a:rPr lang="fr-CA" smtClean="0"/>
              <a:t>2026-01-04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17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53F89-5A40-4132-B2ED-69AA68AD3165}" type="datetime1">
              <a:rPr lang="fr-CA" smtClean="0"/>
              <a:t>2026-01-04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5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B597-8057-4B23-A82C-B67762717BB7}" type="datetime1">
              <a:rPr lang="fr-CA" smtClean="0"/>
              <a:t>2026-01-04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8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C76B-B735-47A9-8990-30657F37DC06}" type="datetime1">
              <a:rPr lang="fr-CA" smtClean="0"/>
              <a:t>2026-01-04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3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C2D2-0D09-486F-92F3-51FC3BA14493}" type="datetime1">
              <a:rPr lang="fr-CA" smtClean="0"/>
              <a:t>2026-01-04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03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9F996-A19D-4749-B9FC-DF1900EB8F7D}" type="datetime1">
              <a:rPr lang="fr-CA" smtClean="0"/>
              <a:t>2026-01-04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9D3A8-7DBE-43BE-9C5E-E7354084127D}" type="datetime1">
              <a:rPr lang="fr-CA" smtClean="0"/>
              <a:t>2026-01-04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9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7BFB-5510-40EE-A227-93B61B73EBF1}" type="datetime1">
              <a:rPr lang="fr-CA" smtClean="0"/>
              <a:t>2026-01-04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8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35FD8-BB2E-4B64-80B2-388C7152A238}" type="datetime1">
              <a:rPr lang="fr-CA" smtClean="0"/>
              <a:t>2026-01-04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3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F1B1-3690-4CDF-959F-A44A997C2504}" type="datetime1">
              <a:rPr lang="fr-CA" smtClean="0"/>
              <a:t>2026-01-04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C3I – Jacob T. et Miriam 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5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6000">
              <a:srgbClr val="CCD1CA"/>
            </a:gs>
            <a:gs pos="77000">
              <a:srgbClr val="DDE0DC"/>
            </a:gs>
            <a:gs pos="22000">
              <a:schemeClr val="bg1"/>
            </a:gs>
            <a:gs pos="100000">
              <a:srgbClr val="BAC1B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ACF96-F14E-446B-8418-9D6ED7059929}" type="datetime1">
              <a:rPr lang="fr-CA" smtClean="0"/>
              <a:t>2026-01-04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C3I – Jacob T. et Miriam 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28480-1C08-4458-AD97-0283E6FFD09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7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EDD83D-C360-7EE5-A848-DC5041097533}"/>
              </a:ext>
            </a:extLst>
          </p:cNvPr>
          <p:cNvSpPr/>
          <p:nvPr/>
        </p:nvSpPr>
        <p:spPr>
          <a:xfrm>
            <a:off x="3034386" y="4136331"/>
            <a:ext cx="6278727" cy="816123"/>
          </a:xfrm>
          <a:prstGeom prst="roundRect">
            <a:avLst>
              <a:gd name="adj" fmla="val 7090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3600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0908FA-3CBE-9600-DE28-DBAAA7E12222}"/>
              </a:ext>
            </a:extLst>
          </p:cNvPr>
          <p:cNvSpPr/>
          <p:nvPr/>
        </p:nvSpPr>
        <p:spPr>
          <a:xfrm>
            <a:off x="-388022" y="1382945"/>
            <a:ext cx="12690764" cy="130732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D1CE59-8880-24A8-A5F9-A4D808FB2E72}"/>
              </a:ext>
            </a:extLst>
          </p:cNvPr>
          <p:cNvSpPr/>
          <p:nvPr/>
        </p:nvSpPr>
        <p:spPr>
          <a:xfrm>
            <a:off x="1192998" y="733229"/>
            <a:ext cx="2896345" cy="2677299"/>
          </a:xfrm>
          <a:prstGeom prst="roundRect">
            <a:avLst>
              <a:gd name="adj" fmla="val 14567"/>
            </a:avLst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09CBA6-CFEA-AE9A-4CDC-266C6B4B8C83}"/>
              </a:ext>
            </a:extLst>
          </p:cNvPr>
          <p:cNvSpPr/>
          <p:nvPr/>
        </p:nvSpPr>
        <p:spPr>
          <a:xfrm>
            <a:off x="1352698" y="890462"/>
            <a:ext cx="2576946" cy="2345607"/>
          </a:xfrm>
          <a:prstGeom prst="roundRect">
            <a:avLst>
              <a:gd name="adj" fmla="val 1162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47B539A-662B-3FC4-40C8-09238E0629AE}"/>
              </a:ext>
            </a:extLst>
          </p:cNvPr>
          <p:cNvSpPr txBox="1">
            <a:spLocks/>
          </p:cNvSpPr>
          <p:nvPr/>
        </p:nvSpPr>
        <p:spPr>
          <a:xfrm>
            <a:off x="4249043" y="1008534"/>
            <a:ext cx="7615488" cy="2029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sz="3200" noProof="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Amasis MT Pro Black"/>
              </a:rPr>
              <a:t>RaceCard</a:t>
            </a:r>
            <a:endParaRPr lang="fr-CA" sz="3200" noProof="0" dirty="0">
              <a:solidFill>
                <a:schemeClr val="bg2">
                  <a:lumMod val="20000"/>
                  <a:lumOff val="80000"/>
                </a:schemeClr>
              </a:solidFill>
              <a:latin typeface="Amasis MT Pro Black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B302015-C5F6-B736-710A-854166B7148A}"/>
              </a:ext>
            </a:extLst>
          </p:cNvPr>
          <p:cNvSpPr txBox="1">
            <a:spLocks/>
          </p:cNvSpPr>
          <p:nvPr/>
        </p:nvSpPr>
        <p:spPr>
          <a:xfrm>
            <a:off x="1491558" y="5967538"/>
            <a:ext cx="9208881" cy="81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 noProof="0" dirty="0">
                <a:latin typeface="Roboto Mono" panose="00000009000000000000" pitchFamily="50" charset="0"/>
                <a:ea typeface="Roboto Mono" panose="00000009000000000000" pitchFamily="50" charset="0"/>
              </a:rPr>
              <a:t>Groupe technique C3I</a:t>
            </a:r>
            <a:endParaRPr lang="fr-CA" sz="2000" noProof="0" dirty="0">
              <a:latin typeface="Amasis MT Pro" panose="02040504050005020304" pitchFamily="18" charset="0"/>
            </a:endParaRPr>
          </a:p>
          <a:p>
            <a:r>
              <a:rPr lang="fr-CA" sz="2000" noProof="0" dirty="0">
                <a:latin typeface="Amasis MT Pro" panose="02040504050005020304" pitchFamily="18" charset="0"/>
              </a:rPr>
              <a:t>Présentation par : </a:t>
            </a:r>
            <a:r>
              <a:rPr lang="fr-CA" sz="2000" dirty="0">
                <a:latin typeface="Amasis MT Pro" panose="02040504050005020304" pitchFamily="18" charset="0"/>
              </a:rPr>
              <a:t>Hugo Brunelle, Maxime Gravel et Gabriel Latulippe</a:t>
            </a:r>
            <a:endParaRPr lang="fr-CA" sz="2000" noProof="0" dirty="0">
              <a:latin typeface="Amasis MT Pro" panose="02040504050005020304" pitchFamily="18" charset="0"/>
            </a:endParaRP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707C227-B754-CB99-7418-40DEC4803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559" y="1072441"/>
            <a:ext cx="2299224" cy="19816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353198-C5F9-3844-2A2A-E3A96DE31207}"/>
              </a:ext>
            </a:extLst>
          </p:cNvPr>
          <p:cNvSpPr txBox="1"/>
          <p:nvPr/>
        </p:nvSpPr>
        <p:spPr>
          <a:xfrm>
            <a:off x="2632360" y="74719"/>
            <a:ext cx="692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 noProof="0" dirty="0">
                <a:latin typeface="Roboto Mono" panose="00000009000000000000" pitchFamily="50" charset="0"/>
                <a:ea typeface="Roboto Mono" panose="00000009000000000000" pitchFamily="50" charset="0"/>
              </a:rPr>
              <a:t>Compétition de conception de circuits imprimés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DC3897-D8AF-1C46-9D28-E515CC4A8696}"/>
              </a:ext>
            </a:extLst>
          </p:cNvPr>
          <p:cNvSpPr/>
          <p:nvPr/>
        </p:nvSpPr>
        <p:spPr>
          <a:xfrm>
            <a:off x="2956634" y="4058579"/>
            <a:ext cx="6278727" cy="816123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600" noProof="0" dirty="0">
                <a:latin typeface="Amasis MT Pro Black"/>
              </a:rPr>
              <a:t>Équipe 02</a:t>
            </a:r>
            <a:endParaRPr lang="fr-CA" sz="3600" noProof="0" dirty="0"/>
          </a:p>
        </p:txBody>
      </p:sp>
    </p:spTree>
    <p:extLst>
      <p:ext uri="{BB962C8B-B14F-4D97-AF65-F5344CB8AC3E}">
        <p14:creationId xmlns:p14="http://schemas.microsoft.com/office/powerpoint/2010/main" val="150941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3107-A622-8D94-D770-AF5652A4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A4C5-5F85-0B6B-9485-588B281C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Présentation Générale du mandat/objectif de la présentation</a:t>
            </a:r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627DE9C0-915B-D8B6-02B5-36F777DA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879849E-2F39-4394-A863-847AD09E51DF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A0BB55F9-D62A-9BEC-4975-6895FE18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CB1DD43C-4957-0A84-9B6C-3C1A0DB0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2</a:t>
            </a:fld>
            <a:endParaRPr lang="fr-CA" noProof="0" dirty="0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F1E83A5-6A56-B5DB-7280-B0D75C2D2933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E54E284-B9C9-A43B-7A0B-FC0C34EC11DF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0" name="Picture 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FF3DDB7-9717-BD71-CFC1-C6DDBF8B4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15467F-F82A-F820-D052-914484F48DFD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14" name="Image 13" descr="Une image contenant Appareils électroniques, Appareil électronique, intérieur, gadget&#10;&#10;Le contenu généré par l’IA peut être incorrect.">
            <a:extLst>
              <a:ext uri="{FF2B5EF4-FFF2-40B4-BE49-F238E27FC236}">
                <a16:creationId xmlns:a16="http://schemas.microsoft.com/office/drawing/2014/main" id="{1EA2107F-5455-52A6-BF9C-369FF6740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493" y="2091887"/>
            <a:ext cx="4909011" cy="36850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Image 15" descr="Une image contenant Véhicule de jouet, intérieur, sol, jouet&#10;&#10;Le contenu généré par l’IA peut être incorrect.">
            <a:extLst>
              <a:ext uri="{FF2B5EF4-FFF2-40B4-BE49-F238E27FC236}">
                <a16:creationId xmlns:a16="http://schemas.microsoft.com/office/drawing/2014/main" id="{8FA11C66-852B-A85E-6D08-D0B736D0B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91888"/>
            <a:ext cx="4910070" cy="36850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07902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ACB7E4-E692-8D46-F156-1EF41E485AEA}"/>
              </a:ext>
            </a:extLst>
          </p:cNvPr>
          <p:cNvSpPr/>
          <p:nvPr/>
        </p:nvSpPr>
        <p:spPr>
          <a:xfrm>
            <a:off x="-32328" y="508188"/>
            <a:ext cx="9809019" cy="867949"/>
          </a:xfrm>
          <a:prstGeom prst="roundRect">
            <a:avLst>
              <a:gd name="adj" fmla="val 709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1D5C1E-C22B-510D-48BD-34D3FAD5D317}"/>
              </a:ext>
            </a:extLst>
          </p:cNvPr>
          <p:cNvSpPr/>
          <p:nvPr/>
        </p:nvSpPr>
        <p:spPr>
          <a:xfrm>
            <a:off x="-184728" y="355788"/>
            <a:ext cx="9809019" cy="867949"/>
          </a:xfrm>
          <a:prstGeom prst="roundRect">
            <a:avLst>
              <a:gd name="adj" fmla="val 7090"/>
            </a:avLst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5CB72-B496-E5A4-5B08-3B8F1C18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34" y="355788"/>
            <a:ext cx="10515600" cy="877507"/>
          </a:xfrm>
        </p:spPr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C15E7-69A0-09A9-FF34-87F562B23A43}"/>
              </a:ext>
            </a:extLst>
          </p:cNvPr>
          <p:cNvGrpSpPr/>
          <p:nvPr/>
        </p:nvGrpSpPr>
        <p:grpSpPr>
          <a:xfrm>
            <a:off x="3581400" y="2013122"/>
            <a:ext cx="2042651" cy="1601569"/>
            <a:chOff x="1527482" y="2063170"/>
            <a:chExt cx="2042651" cy="160156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234825FD-F165-0655-5FE7-FE94D78ACEA9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DE7B217A-6B82-9C71-2814-597DD968925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EA5ADF23-FE2C-8FC3-244F-50FD1B3AE5E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" name="Google Shape;296;p16">
              <a:extLst>
                <a:ext uri="{FF2B5EF4-FFF2-40B4-BE49-F238E27FC236}">
                  <a16:creationId xmlns:a16="http://schemas.microsoft.com/office/drawing/2014/main" id="{E079D4FE-9D85-6C4E-E5DD-A0291AEA4297}"/>
                </a:ext>
              </a:extLst>
            </p:cNvPr>
            <p:cNvSpPr txBox="1"/>
            <p:nvPr/>
          </p:nvSpPr>
          <p:spPr>
            <a:xfrm>
              <a:off x="1527482" y="2693995"/>
              <a:ext cx="2033641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sz="1650" b="1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RaceCar</a:t>
              </a:r>
              <a:endParaRPr lang="fr-CA" sz="1650" b="1" noProof="0" dirty="0">
                <a:solidFill>
                  <a:srgbClr val="000000"/>
                </a:solidFill>
                <a:ea typeface="Open Sans"/>
                <a:cs typeface="Open San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926D5E4-F9EC-D5C3-D287-E48078D5857A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3F2394-80BC-6D58-97E8-58CD1EF433B6}"/>
              </a:ext>
            </a:extLst>
          </p:cNvPr>
          <p:cNvGrpSpPr/>
          <p:nvPr/>
        </p:nvGrpSpPr>
        <p:grpSpPr>
          <a:xfrm>
            <a:off x="5070862" y="3984530"/>
            <a:ext cx="2050276" cy="1600200"/>
            <a:chOff x="1518532" y="3847055"/>
            <a:chExt cx="2050276" cy="1600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9" name="Google Shape;290;p16">
              <a:extLst>
                <a:ext uri="{FF2B5EF4-FFF2-40B4-BE49-F238E27FC236}">
                  <a16:creationId xmlns:a16="http://schemas.microsoft.com/office/drawing/2014/main" id="{72AAF401-C346-B4B1-0EF7-84D503A78212}"/>
                </a:ext>
              </a:extLst>
            </p:cNvPr>
            <p:cNvGrpSpPr/>
            <p:nvPr/>
          </p:nvGrpSpPr>
          <p:grpSpPr>
            <a:xfrm>
              <a:off x="1526158" y="3847055"/>
              <a:ext cx="2042650" cy="1600200"/>
              <a:chOff x="0" y="0"/>
              <a:chExt cx="1200970" cy="812800"/>
            </a:xfrm>
          </p:grpSpPr>
          <p:sp>
            <p:nvSpPr>
              <p:cNvPr id="33" name="Google Shape;291;p16">
                <a:extLst>
                  <a:ext uri="{FF2B5EF4-FFF2-40B4-BE49-F238E27FC236}">
                    <a16:creationId xmlns:a16="http://schemas.microsoft.com/office/drawing/2014/main" id="{82D8BA3E-EF7C-F1D2-E32B-6E1A81884D52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34" name="Google Shape;292;p16">
                <a:extLst>
                  <a:ext uri="{FF2B5EF4-FFF2-40B4-BE49-F238E27FC236}">
                    <a16:creationId xmlns:a16="http://schemas.microsoft.com/office/drawing/2014/main" id="{A153FAAF-8E89-699E-C384-7B080F4B1A41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" name="Google Shape;296;p16">
              <a:extLst>
                <a:ext uri="{FF2B5EF4-FFF2-40B4-BE49-F238E27FC236}">
                  <a16:creationId xmlns:a16="http://schemas.microsoft.com/office/drawing/2014/main" id="{A8BE34AD-F47E-5DE1-6A28-9A4BFA8D22B2}"/>
                </a:ext>
              </a:extLst>
            </p:cNvPr>
            <p:cNvSpPr txBox="1"/>
            <p:nvPr/>
          </p:nvSpPr>
          <p:spPr>
            <a:xfrm>
              <a:off x="1518532" y="4531640"/>
              <a:ext cx="2042650" cy="5078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sz="1650" noProof="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Période de</a:t>
              </a:r>
              <a:br>
                <a:rPr lang="fr-CA" sz="1650" noProof="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</a:br>
              <a:r>
                <a:rPr lang="fr-CA" sz="1650" noProof="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questions</a:t>
              </a:r>
              <a:endParaRPr lang="fr-CA" noProof="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3672E31-71B2-DF95-40A4-D6B073326430}"/>
                </a:ext>
              </a:extLst>
            </p:cNvPr>
            <p:cNvSpPr/>
            <p:nvPr/>
          </p:nvSpPr>
          <p:spPr>
            <a:xfrm>
              <a:off x="1748041" y="3848067"/>
              <a:ext cx="431321" cy="5265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3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88E60981-E841-2A2C-F66C-D2D2DF510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D454-CBA0-4F9B-9ACF-4C300E5E17EA}" type="datetime1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2026-01-04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638F492F-8EFA-4651-2331-DF670B39D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C3I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27BD5C19-4519-1CF0-F0C4-DA97FE3A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3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82D4D8-5779-3CEA-0B4A-3C837309D824}"/>
              </a:ext>
            </a:extLst>
          </p:cNvPr>
          <p:cNvGrpSpPr/>
          <p:nvPr/>
        </p:nvGrpSpPr>
        <p:grpSpPr>
          <a:xfrm>
            <a:off x="6563840" y="1979042"/>
            <a:ext cx="2046760" cy="1600199"/>
            <a:chOff x="6068201" y="2064540"/>
            <a:chExt cx="2046760" cy="16001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B721F23C-AB2D-0CE7-FA9A-43745C6809D0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ADEC24A6-7579-D0C5-EEE0-5B8DCAD992B7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FBFC15D9-30D3-4ADB-EF47-97FCD60F99C8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" name="Google Shape;296;p16">
              <a:extLst>
                <a:ext uri="{FF2B5EF4-FFF2-40B4-BE49-F238E27FC236}">
                  <a16:creationId xmlns:a16="http://schemas.microsoft.com/office/drawing/2014/main" id="{1934310A-7510-68BF-D847-2935C07D0F8A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sz="1650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RaceCard</a:t>
              </a:r>
              <a:endParaRPr lang="fr-CA" noProof="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34931F-E3C3-51D4-C2B1-8B65A15D9F58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991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57A3-EDB6-F956-2AF3-2B765946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STM32</a:t>
            </a:r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76A75332-1CDB-BB65-FAB4-D98656BE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D7B652F-E9EA-4D1B-9D77-3B32B40B9833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288609CC-2C2F-21F0-8FE9-17295164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5ED6BBCF-A110-20A4-713E-30D07F2E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A0FBD6-7DDC-6C87-642F-BB910CC235E1}"/>
              </a:ext>
            </a:extLst>
          </p:cNvPr>
          <p:cNvSpPr/>
          <p:nvPr/>
        </p:nvSpPr>
        <p:spPr>
          <a:xfrm>
            <a:off x="9322341" y="284201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240037-DB5E-EC67-3D7B-4AE1ABC42FBB}"/>
              </a:ext>
            </a:extLst>
          </p:cNvPr>
          <p:cNvSpPr/>
          <p:nvPr/>
        </p:nvSpPr>
        <p:spPr>
          <a:xfrm>
            <a:off x="9244586" y="216277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noProof="0" dirty="0"/>
              <a:t>	1/4 - </a:t>
            </a:r>
            <a:r>
              <a:rPr lang="fr-CA" dirty="0" err="1"/>
              <a:t>RaceCar</a:t>
            </a:r>
            <a:endParaRPr lang="fr-CA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DDB7454-F73B-6418-B4FE-557FC2D41D4B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8851C47-8032-2DB0-DCB6-BC3AA8F206BF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4" name="Picture 1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E755259-B501-50D3-F81D-2E21D2039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8383985-D8D0-8742-1024-69A752133FD3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16" name="Image 15" descr="Une image contenant texte, diagramme, Plan, schématique&#10;&#10;Le contenu généré par l’IA peut être incorrect.">
            <a:extLst>
              <a:ext uri="{FF2B5EF4-FFF2-40B4-BE49-F238E27FC236}">
                <a16:creationId xmlns:a16="http://schemas.microsoft.com/office/drawing/2014/main" id="{CF10D49A-32D4-3CDB-4269-A1174AA39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95" y="1366454"/>
            <a:ext cx="10073667" cy="4707516"/>
          </a:xfrm>
          <a:prstGeom prst="roundRect">
            <a:avLst>
              <a:gd name="adj" fmla="val 12394"/>
            </a:avLst>
          </a:prstGeom>
        </p:spPr>
      </p:pic>
    </p:spTree>
    <p:extLst>
      <p:ext uri="{BB962C8B-B14F-4D97-AF65-F5344CB8AC3E}">
        <p14:creationId xmlns:p14="http://schemas.microsoft.com/office/powerpoint/2010/main" val="160763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B4F2-569C-79A8-538B-0C7E91C3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C71E-6864-AB0F-B762-9BFD1912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Alimentation</a:t>
            </a:r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9B9C6B7E-88C5-5102-FAA6-69FAF8810E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59700D5-450D-48C0-A802-20467524654F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6FEF3966-034C-C625-9A95-BACE2005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0A56C344-DFD8-2B3E-BFA3-9C09C985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5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DD2765-E103-96F3-90D5-BEB5D0355B76}"/>
              </a:ext>
            </a:extLst>
          </p:cNvPr>
          <p:cNvSpPr/>
          <p:nvPr/>
        </p:nvSpPr>
        <p:spPr>
          <a:xfrm>
            <a:off x="9322341" y="284201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7E26F5-109C-1897-5C50-3DBC287E996E}"/>
              </a:ext>
            </a:extLst>
          </p:cNvPr>
          <p:cNvSpPr/>
          <p:nvPr/>
        </p:nvSpPr>
        <p:spPr>
          <a:xfrm>
            <a:off x="9244586" y="216277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noProof="0" dirty="0"/>
              <a:t>	2/4 - </a:t>
            </a:r>
            <a:r>
              <a:rPr lang="fr-CA" dirty="0" err="1"/>
              <a:t>RaceCar</a:t>
            </a:r>
            <a:endParaRPr lang="fr-CA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E9DFE6-2E88-2F75-ED4F-79DE44BC2AB5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47654A9-114A-EE25-261C-E4AAACEE4516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D6EFF74-CBF0-9A04-97B4-DBB03DBB4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B2F6D20-4D78-2A40-3044-14D3AC70A477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16" name="Image 15" descr="Une image contenant texte, diagramme, ligne, Plan&#10;&#10;Le contenu généré par l’IA peut être incorrect.">
            <a:extLst>
              <a:ext uri="{FF2B5EF4-FFF2-40B4-BE49-F238E27FC236}">
                <a16:creationId xmlns:a16="http://schemas.microsoft.com/office/drawing/2014/main" id="{08A8EECC-8F68-986E-A09D-2AF149A8D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1893"/>
            <a:ext cx="12192000" cy="351421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07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D326-5FD5-B3E2-F592-12DEE18A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8781-DD13-2E0A-B61C-F0D17F349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Communication sans-fil</a:t>
            </a:r>
            <a:endParaRPr lang="fr-CA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0CB6A2A1-7DCE-395E-F422-5CA61383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0EB7F-13A6-4B6E-91D1-4CC2A825E81F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F7BF8E11-2AC6-C61A-D9D5-B2EE6B751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7CC2F1BA-30CB-2088-5CEC-EBA0AD07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6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F804E1-CFF1-75B6-75AF-966728B308F7}"/>
              </a:ext>
            </a:extLst>
          </p:cNvPr>
          <p:cNvSpPr/>
          <p:nvPr/>
        </p:nvSpPr>
        <p:spPr>
          <a:xfrm>
            <a:off x="9322341" y="284201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FEEA30-A0C3-C148-10AD-9E9701CA8556}"/>
              </a:ext>
            </a:extLst>
          </p:cNvPr>
          <p:cNvSpPr/>
          <p:nvPr/>
        </p:nvSpPr>
        <p:spPr>
          <a:xfrm>
            <a:off x="9244586" y="216277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noProof="0" dirty="0"/>
              <a:t>	3/4 - </a:t>
            </a:r>
            <a:r>
              <a:rPr lang="fr-CA" dirty="0" err="1"/>
              <a:t>RaceCar</a:t>
            </a:r>
            <a:endParaRPr lang="fr-CA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187574-206F-4EC6-5700-6409EC7773BA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5C4C15-0E5A-AC5B-BF07-42BE110B1D16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BF965EF-E8E3-421A-A272-1C72204A0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33801CC-C970-FB86-21D1-E3B48195E454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16" name="Image 15" descr="Une image contenant texte, diagramme, Plan, ligne&#10;&#10;Le contenu généré par l’IA peut être incorrect.">
            <a:extLst>
              <a:ext uri="{FF2B5EF4-FFF2-40B4-BE49-F238E27FC236}">
                <a16:creationId xmlns:a16="http://schemas.microsoft.com/office/drawing/2014/main" id="{1C624E1A-8076-5E60-783D-CAA8608AF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126" y="1497967"/>
            <a:ext cx="7325747" cy="4477375"/>
          </a:xfrm>
          <a:prstGeom prst="roundRect">
            <a:avLst>
              <a:gd name="adj" fmla="val 9315"/>
            </a:avLst>
          </a:prstGeom>
        </p:spPr>
      </p:pic>
    </p:spTree>
    <p:extLst>
      <p:ext uri="{BB962C8B-B14F-4D97-AF65-F5344CB8AC3E}">
        <p14:creationId xmlns:p14="http://schemas.microsoft.com/office/powerpoint/2010/main" val="23658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54B5-6D56-1972-507D-E0F53BFC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D44E-04E1-5AB5-82FF-630DBCBD4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Circuit complet</a:t>
            </a:r>
            <a:endParaRPr lang="fr-CA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99AB6309-94FF-1AF3-CFDE-28F7A511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0EB7F-13A6-4B6E-91D1-4CC2A825E81F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804D2FE4-BD3A-A573-FDD3-359220C2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DD8979D8-BD4B-4034-A897-5BBA8CF5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7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8E49AA-95C0-3E77-31E0-8DEFCF55F178}"/>
              </a:ext>
            </a:extLst>
          </p:cNvPr>
          <p:cNvSpPr/>
          <p:nvPr/>
        </p:nvSpPr>
        <p:spPr>
          <a:xfrm>
            <a:off x="9322341" y="284201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128EE8-F0BA-DBD2-4773-4301B2E5F1FA}"/>
              </a:ext>
            </a:extLst>
          </p:cNvPr>
          <p:cNvSpPr/>
          <p:nvPr/>
        </p:nvSpPr>
        <p:spPr>
          <a:xfrm>
            <a:off x="9244586" y="216277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noProof="0" dirty="0"/>
              <a:t>	</a:t>
            </a:r>
            <a:r>
              <a:rPr lang="fr-CA" dirty="0"/>
              <a:t>4</a:t>
            </a:r>
            <a:r>
              <a:rPr lang="fr-CA" noProof="0" dirty="0"/>
              <a:t>/4 - </a:t>
            </a:r>
            <a:r>
              <a:rPr lang="fr-CA" dirty="0" err="1"/>
              <a:t>RaceCar</a:t>
            </a:r>
            <a:endParaRPr lang="fr-CA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DBF087-9DA0-03FA-12C8-04AECBEBA567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A281139-B0CD-54EC-DF59-BFBC40CB01B9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9AFFCE2-1FAD-9CE8-FA47-8C463492C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434B7F7-C1A3-B679-09ED-84505C07DD62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16" name="Image 15" descr="Une image contenant texte, diagramme, Parallè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B371BA1-C311-5071-EF8C-4336BC5F1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96" y="1426668"/>
            <a:ext cx="7900408" cy="4929682"/>
          </a:xfrm>
          <a:prstGeom prst="roundRect">
            <a:avLst>
              <a:gd name="adj" fmla="val 8136"/>
            </a:avLst>
          </a:prstGeom>
        </p:spPr>
      </p:pic>
    </p:spTree>
    <p:extLst>
      <p:ext uri="{BB962C8B-B14F-4D97-AF65-F5344CB8AC3E}">
        <p14:creationId xmlns:p14="http://schemas.microsoft.com/office/powerpoint/2010/main" val="307074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BA710-09D6-5339-4809-FB1CD1C7C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9111DA-F980-D62A-1CD9-A989A6E938B2}"/>
              </a:ext>
            </a:extLst>
          </p:cNvPr>
          <p:cNvSpPr/>
          <p:nvPr/>
        </p:nvSpPr>
        <p:spPr>
          <a:xfrm>
            <a:off x="-32328" y="508188"/>
            <a:ext cx="9809019" cy="867949"/>
          </a:xfrm>
          <a:prstGeom prst="roundRect">
            <a:avLst>
              <a:gd name="adj" fmla="val 709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AF061B-1E97-5A48-9CB5-C74B18AF0309}"/>
              </a:ext>
            </a:extLst>
          </p:cNvPr>
          <p:cNvSpPr/>
          <p:nvPr/>
        </p:nvSpPr>
        <p:spPr>
          <a:xfrm>
            <a:off x="-184728" y="355788"/>
            <a:ext cx="9809019" cy="867949"/>
          </a:xfrm>
          <a:prstGeom prst="roundRect">
            <a:avLst>
              <a:gd name="adj" fmla="val 7090"/>
            </a:avLst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868B4-46A5-E1AA-FB2D-286E8F47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34" y="355788"/>
            <a:ext cx="10515600" cy="877507"/>
          </a:xfrm>
        </p:spPr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F27A64-233D-DCE6-FD17-A6F8FE391CFD}"/>
              </a:ext>
            </a:extLst>
          </p:cNvPr>
          <p:cNvGrpSpPr/>
          <p:nvPr/>
        </p:nvGrpSpPr>
        <p:grpSpPr>
          <a:xfrm>
            <a:off x="3581400" y="2013122"/>
            <a:ext cx="2042651" cy="1601569"/>
            <a:chOff x="1527482" y="2063170"/>
            <a:chExt cx="2042651" cy="160156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BAC9C9F8-D969-976B-885F-EFF4201B9C9D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319EA727-C15F-3C5F-96D3-73EE249307EC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8FAFB7EF-E6C2-7260-C902-C257CBCFA1BC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" name="Google Shape;296;p16">
              <a:extLst>
                <a:ext uri="{FF2B5EF4-FFF2-40B4-BE49-F238E27FC236}">
                  <a16:creationId xmlns:a16="http://schemas.microsoft.com/office/drawing/2014/main" id="{B2C7D211-56AA-8D5E-2E8D-E7C327945477}"/>
                </a:ext>
              </a:extLst>
            </p:cNvPr>
            <p:cNvSpPr txBox="1"/>
            <p:nvPr/>
          </p:nvSpPr>
          <p:spPr>
            <a:xfrm>
              <a:off x="1527482" y="2693995"/>
              <a:ext cx="2033641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sz="1650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RaceCar</a:t>
              </a:r>
              <a:endParaRPr lang="fr-CA" sz="1650" noProof="0" dirty="0">
                <a:solidFill>
                  <a:srgbClr val="000000"/>
                </a:solidFill>
                <a:ea typeface="Open Sans"/>
                <a:cs typeface="Open San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B579021-A9B0-78F0-6876-BA8D67487907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6571041-AC99-BF87-D157-94C3052FE18C}"/>
              </a:ext>
            </a:extLst>
          </p:cNvPr>
          <p:cNvGrpSpPr/>
          <p:nvPr/>
        </p:nvGrpSpPr>
        <p:grpSpPr>
          <a:xfrm>
            <a:off x="5070862" y="3984530"/>
            <a:ext cx="2050276" cy="1600200"/>
            <a:chOff x="1518532" y="3847055"/>
            <a:chExt cx="2050276" cy="1600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9" name="Google Shape;290;p16">
              <a:extLst>
                <a:ext uri="{FF2B5EF4-FFF2-40B4-BE49-F238E27FC236}">
                  <a16:creationId xmlns:a16="http://schemas.microsoft.com/office/drawing/2014/main" id="{54C64053-42F0-D09C-E3AF-70D64FCEF8F2}"/>
                </a:ext>
              </a:extLst>
            </p:cNvPr>
            <p:cNvGrpSpPr/>
            <p:nvPr/>
          </p:nvGrpSpPr>
          <p:grpSpPr>
            <a:xfrm>
              <a:off x="1526158" y="3847055"/>
              <a:ext cx="2042650" cy="1600200"/>
              <a:chOff x="0" y="0"/>
              <a:chExt cx="1200970" cy="812800"/>
            </a:xfrm>
          </p:grpSpPr>
          <p:sp>
            <p:nvSpPr>
              <p:cNvPr id="33" name="Google Shape;291;p16">
                <a:extLst>
                  <a:ext uri="{FF2B5EF4-FFF2-40B4-BE49-F238E27FC236}">
                    <a16:creationId xmlns:a16="http://schemas.microsoft.com/office/drawing/2014/main" id="{CED2DBCC-29D3-4EFD-8F6F-541E49B4FFF2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34" name="Google Shape;292;p16">
                <a:extLst>
                  <a:ext uri="{FF2B5EF4-FFF2-40B4-BE49-F238E27FC236}">
                    <a16:creationId xmlns:a16="http://schemas.microsoft.com/office/drawing/2014/main" id="{031F6A49-32A7-AD2A-F0F7-ABBCCEA25E85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" name="Google Shape;296;p16">
              <a:extLst>
                <a:ext uri="{FF2B5EF4-FFF2-40B4-BE49-F238E27FC236}">
                  <a16:creationId xmlns:a16="http://schemas.microsoft.com/office/drawing/2014/main" id="{15F59D33-AF63-8C3E-BAA4-383147276728}"/>
                </a:ext>
              </a:extLst>
            </p:cNvPr>
            <p:cNvSpPr txBox="1"/>
            <p:nvPr/>
          </p:nvSpPr>
          <p:spPr>
            <a:xfrm>
              <a:off x="1518532" y="4531640"/>
              <a:ext cx="2042650" cy="5078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sz="1650" noProof="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Période de</a:t>
              </a:r>
              <a:br>
                <a:rPr lang="fr-CA" sz="1650" noProof="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</a:br>
              <a:r>
                <a:rPr lang="fr-CA" sz="1650" noProof="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questions</a:t>
              </a:r>
              <a:endParaRPr lang="fr-CA" noProof="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585526A-5EAF-3597-8E8E-623D9560F89C}"/>
                </a:ext>
              </a:extLst>
            </p:cNvPr>
            <p:cNvSpPr/>
            <p:nvPr/>
          </p:nvSpPr>
          <p:spPr>
            <a:xfrm>
              <a:off x="1748041" y="3848067"/>
              <a:ext cx="431321" cy="5265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3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DA6B00C7-44E0-294F-F061-9471325D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D454-CBA0-4F9B-9ACF-4C300E5E17EA}" type="datetime1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2026-01-04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DAD50D33-9C1A-649D-39CB-3C4123B8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C3I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394D3F35-03C3-6E53-22C4-70A5F599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8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EAD784-3055-CF92-967B-C103463A226B}"/>
              </a:ext>
            </a:extLst>
          </p:cNvPr>
          <p:cNvGrpSpPr/>
          <p:nvPr/>
        </p:nvGrpSpPr>
        <p:grpSpPr>
          <a:xfrm>
            <a:off x="6563840" y="1979042"/>
            <a:ext cx="2046760" cy="1600199"/>
            <a:chOff x="6068201" y="2064540"/>
            <a:chExt cx="2046760" cy="16001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52590CA9-BD51-3316-31E4-CA1E150C08F7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0E3FCB0A-FFD4-8F76-9F69-07640AADA226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95373B66-A62A-0571-D85F-30E8D4D6125B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" name="Google Shape;296;p16">
              <a:extLst>
                <a:ext uri="{FF2B5EF4-FFF2-40B4-BE49-F238E27FC236}">
                  <a16:creationId xmlns:a16="http://schemas.microsoft.com/office/drawing/2014/main" id="{0A6B0D71-EA91-2EF9-C841-8DD3EFAEAC31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sz="1650" b="1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RaceCard</a:t>
              </a:r>
              <a:endParaRPr lang="fr-CA" b="1" noProof="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CD4E89-05A8-DE3F-FCCF-96526F1A5C50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6463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16A1E-8700-64C2-8E04-70C704507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5D91-8390-9BA2-1D78-4F1D959C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S</a:t>
            </a:r>
            <a:r>
              <a:rPr lang="fr-CA" dirty="0"/>
              <a:t>TM32</a:t>
            </a:r>
            <a:endParaRPr lang="fr-CA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0A206274-3A30-93C9-5B0F-3F808CEA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D7B652F-E9EA-4D1B-9D77-3B32B40B9833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02901C3C-87A5-BD6E-9D8B-E182FE1D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DADC4417-B0EF-2BAD-0633-CB13D1B6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9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22BAF3-B4BE-45F6-229B-78BAAE616DC2}"/>
              </a:ext>
            </a:extLst>
          </p:cNvPr>
          <p:cNvSpPr/>
          <p:nvPr/>
        </p:nvSpPr>
        <p:spPr>
          <a:xfrm>
            <a:off x="9322341" y="284201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2A4B0B-518D-A21F-D4F5-968251CE68BC}"/>
              </a:ext>
            </a:extLst>
          </p:cNvPr>
          <p:cNvSpPr/>
          <p:nvPr/>
        </p:nvSpPr>
        <p:spPr>
          <a:xfrm>
            <a:off x="9244586" y="216277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noProof="0" dirty="0"/>
              <a:t>	1/5 - </a:t>
            </a:r>
            <a:r>
              <a:rPr lang="fr-CA" dirty="0" err="1"/>
              <a:t>RaceCard</a:t>
            </a:r>
            <a:endParaRPr lang="fr-CA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952F0F-ED59-B83E-389D-1773F43F7CFA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7828031-139A-1DA3-3680-5608EBE992E8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4" name="Picture 1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B49D433-0C17-1A65-E350-FD966CA02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A5E9F9-DEE1-B1FC-3528-6ACC79F482CC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16" name="Image 15" descr="Une image contenant texte, lign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098D479-161B-5A85-DD01-23FDFB283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5194"/>
            <a:ext cx="12192000" cy="336761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13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495D3-9C80-71DC-6BA0-7987486F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A742-C845-407A-B4D8-E2570299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Boutons tactiles</a:t>
            </a:r>
            <a:endParaRPr lang="fr-CA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574FF8C2-7BF1-A6DD-7593-52BAF5BC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59700D5-450D-48C0-A802-20467524654F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30C2E7F9-1DF4-E7E0-BF74-8A5329519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9C75C2DE-FA79-2491-5ECE-91E3D325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10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EB5C0C-72A4-E91C-070A-A373D14A42CA}"/>
              </a:ext>
            </a:extLst>
          </p:cNvPr>
          <p:cNvSpPr/>
          <p:nvPr/>
        </p:nvSpPr>
        <p:spPr>
          <a:xfrm>
            <a:off x="9322341" y="284201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98B979-D52B-CC53-EB11-1122CCDE12B0}"/>
              </a:ext>
            </a:extLst>
          </p:cNvPr>
          <p:cNvSpPr/>
          <p:nvPr/>
        </p:nvSpPr>
        <p:spPr>
          <a:xfrm>
            <a:off x="9244586" y="216277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noProof="0" dirty="0"/>
              <a:t>	2/5 - </a:t>
            </a:r>
            <a:r>
              <a:rPr lang="fr-CA" dirty="0" err="1"/>
              <a:t>RaceCard</a:t>
            </a:r>
            <a:endParaRPr lang="fr-CA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6010C8F-ECB9-1254-D6A3-B22D092ED4CF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A219942-797F-5EF5-1DB4-56A57BCF9087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ACA3F26-27B5-7949-1E39-541BEC544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90420DC-7BCE-556A-75D6-AFFD7A10A537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16" name="Image 15" descr="Une image contenant texte, diagramme, Plan, schématique&#10;&#10;Le contenu généré par l’IA peut être incorrect.">
            <a:extLst>
              <a:ext uri="{FF2B5EF4-FFF2-40B4-BE49-F238E27FC236}">
                <a16:creationId xmlns:a16="http://schemas.microsoft.com/office/drawing/2014/main" id="{D1EE52E9-0191-B85D-3999-9EC76112B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40" y="1356703"/>
            <a:ext cx="10355120" cy="4420217"/>
          </a:xfrm>
          <a:prstGeom prst="roundRect">
            <a:avLst>
              <a:gd name="adj" fmla="val 17701"/>
            </a:avLst>
          </a:prstGeom>
        </p:spPr>
      </p:pic>
    </p:spTree>
    <p:extLst>
      <p:ext uri="{BB962C8B-B14F-4D97-AF65-F5344CB8AC3E}">
        <p14:creationId xmlns:p14="http://schemas.microsoft.com/office/powerpoint/2010/main" val="4192604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510C-5016-A0AC-E5BF-FDA8100D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82FA-F74F-1EE6-87CE-AEC931F1B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Alimentation</a:t>
            </a:r>
            <a:endParaRPr lang="fr-CA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8EACD082-5B2E-93F4-98E4-06902D9A7B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0EB7F-13A6-4B6E-91D1-4CC2A825E81F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6582F5A5-99F7-2114-28C6-CA99E514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82F6061E-F211-6D49-F6F2-C62BF72A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11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3416FF-045F-88A3-D35E-EB5B4D2EA685}"/>
              </a:ext>
            </a:extLst>
          </p:cNvPr>
          <p:cNvSpPr/>
          <p:nvPr/>
        </p:nvSpPr>
        <p:spPr>
          <a:xfrm>
            <a:off x="9322341" y="284201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A70772-9023-7240-074A-21D8B21464D3}"/>
              </a:ext>
            </a:extLst>
          </p:cNvPr>
          <p:cNvSpPr/>
          <p:nvPr/>
        </p:nvSpPr>
        <p:spPr>
          <a:xfrm>
            <a:off x="9244586" y="216277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noProof="0" dirty="0"/>
              <a:t>	3/5 - </a:t>
            </a:r>
            <a:r>
              <a:rPr lang="fr-CA" dirty="0" err="1"/>
              <a:t>RaceCard</a:t>
            </a:r>
            <a:endParaRPr lang="fr-CA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0B2F8F-7F91-CD5A-3E8F-B4F8BE0C3AF2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97050DE-CF79-6837-08AC-6C666A05B199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F0C2B91-40B7-F8A6-A393-39CC01BF6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BDBF7E-A02B-BD3D-1A1F-61D78DCD8D77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20" name="Image 19" descr="Une image contenant diagramme, texte, Plan, ligne&#10;&#10;Le contenu généré par l’IA peut être incorrect.">
            <a:extLst>
              <a:ext uri="{FF2B5EF4-FFF2-40B4-BE49-F238E27FC236}">
                <a16:creationId xmlns:a16="http://schemas.microsoft.com/office/drawing/2014/main" id="{AFD735BA-1112-0663-0B51-527B8D6C1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8658"/>
            <a:ext cx="12192000" cy="332068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02709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E88B-92F6-1EEF-FD40-F729BEC5C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BD5BD-59B9-8703-A17A-0D3E0327F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Communication sans</a:t>
            </a:r>
            <a:r>
              <a:rPr lang="fr-CA" dirty="0"/>
              <a:t>-fil</a:t>
            </a:r>
            <a:endParaRPr lang="fr-CA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6DF1324F-1A48-7EF1-2B9F-BFAE1A8D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0EB7F-13A6-4B6E-91D1-4CC2A825E81F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2269A08F-A0DC-44EE-E313-6FDD2A89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FB8FE1E0-F23C-F927-8AE0-05E32E94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12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DAAF70-3EC5-0247-6CCA-CDF440784230}"/>
              </a:ext>
            </a:extLst>
          </p:cNvPr>
          <p:cNvSpPr/>
          <p:nvPr/>
        </p:nvSpPr>
        <p:spPr>
          <a:xfrm>
            <a:off x="9322341" y="284201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C1A0B2-80E6-99D4-C71D-B6AEF9BFFD11}"/>
              </a:ext>
            </a:extLst>
          </p:cNvPr>
          <p:cNvSpPr/>
          <p:nvPr/>
        </p:nvSpPr>
        <p:spPr>
          <a:xfrm>
            <a:off x="9244586" y="216277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noProof="0" dirty="0"/>
              <a:t>	4/5 - </a:t>
            </a:r>
            <a:r>
              <a:rPr lang="fr-CA" dirty="0" err="1"/>
              <a:t>RaceCard</a:t>
            </a:r>
            <a:endParaRPr lang="fr-CA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E08D3F-38DC-132A-6249-B4BA3B71D75E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06E5F17-5FD7-A6B4-D9EB-BC4DFD680F3B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6326030-2617-DCCF-F8D0-817B50D1E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C1C5FC-1F46-92FD-79AB-261AAACD60AC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16" name="Image 15" descr="Une image contenant diagramme, texte, Plan, schématique&#10;&#10;Le contenu généré par l’IA peut être incorrect.">
            <a:extLst>
              <a:ext uri="{FF2B5EF4-FFF2-40B4-BE49-F238E27FC236}">
                <a16:creationId xmlns:a16="http://schemas.microsoft.com/office/drawing/2014/main" id="{2ADBC79D-EA65-89DB-287D-DAA0C5133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51" y="1839447"/>
            <a:ext cx="9897898" cy="338168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79738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08A16-5968-B952-5AB1-07B12149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787F-DBD8-717E-9238-9F2E8EA0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Circuit complet</a:t>
            </a:r>
            <a:endParaRPr lang="fr-CA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061A7289-F05A-45EE-360C-675EEC53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0EB7F-13A6-4B6E-91D1-4CC2A825E81F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D515E215-6825-7D7B-A0E2-903DDF8A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1BD0FD58-AA91-851F-3E3D-AB9FC6966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13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B8CE52-BEA8-B55E-29B1-861ED1D027B2}"/>
              </a:ext>
            </a:extLst>
          </p:cNvPr>
          <p:cNvSpPr/>
          <p:nvPr/>
        </p:nvSpPr>
        <p:spPr>
          <a:xfrm>
            <a:off x="9322341" y="284201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BC7FD1-7A33-CB1C-1B96-E2E0926B298E}"/>
              </a:ext>
            </a:extLst>
          </p:cNvPr>
          <p:cNvSpPr/>
          <p:nvPr/>
        </p:nvSpPr>
        <p:spPr>
          <a:xfrm>
            <a:off x="9244586" y="216277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noProof="0" dirty="0"/>
              <a:t>	</a:t>
            </a:r>
            <a:r>
              <a:rPr lang="fr-CA" dirty="0"/>
              <a:t>5</a:t>
            </a:r>
            <a:r>
              <a:rPr lang="fr-CA" noProof="0" dirty="0"/>
              <a:t>/5 - </a:t>
            </a:r>
            <a:r>
              <a:rPr lang="fr-CA" dirty="0" err="1"/>
              <a:t>RaceCard</a:t>
            </a:r>
            <a:endParaRPr lang="fr-CA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3137C2-3732-7F9F-9898-B31A677BE6E3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F0A38CB-AF72-3E60-C3F7-3B1454B36FA2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6121A4A-9AB6-D0D3-278B-DDEA5D804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F8E582-AC04-5F34-FC45-CDF23233C4B5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16" name="Image 15" descr="Une image contenant texte, Visage humain, sourire, personne&#10;&#10;Le contenu généré par l’IA peut être incorrect.">
            <a:extLst>
              <a:ext uri="{FF2B5EF4-FFF2-40B4-BE49-F238E27FC236}">
                <a16:creationId xmlns:a16="http://schemas.microsoft.com/office/drawing/2014/main" id="{6B6CE316-3232-2A1F-4E32-916BEC85C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" y="458338"/>
            <a:ext cx="8918080" cy="577692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54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225CF-16A3-C6C3-D1C4-836A1C1C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391D-1435-9C69-00B6-BAAFF2E1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PCB </a:t>
            </a:r>
            <a:r>
              <a:rPr lang="fr-CA" dirty="0"/>
              <a:t>(En cours…)</a:t>
            </a:r>
            <a:endParaRPr lang="fr-CA" noProof="0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76715922-B4ED-58D8-933A-66301CFA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0EB7F-13A6-4B6E-91D1-4CC2A825E81F}" type="datetime1">
              <a:rPr lang="fr-CA" noProof="0" smtClean="0">
                <a:solidFill>
                  <a:schemeClr val="tx1"/>
                </a:solidFill>
              </a:rPr>
              <a:t>2026-01-04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30AE37D4-36AA-EC37-0888-759841BE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CAE9AE49-5FC9-32F1-3022-8EBB4409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algn="ctr"/>
            <a:fld id="{F8E28480-1C08-4458-AD97-0283E6FFD09D}" type="slidenum">
              <a:rPr lang="fr-CA" noProof="0" smtClean="0">
                <a:solidFill>
                  <a:schemeClr val="tx1"/>
                </a:solidFill>
              </a:rPr>
              <a:pPr algn="ctr"/>
              <a:t>14</a:t>
            </a:fld>
            <a:endParaRPr lang="fr-CA" noProof="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D1235-D641-502E-D9CC-258D066DDA2E}"/>
              </a:ext>
            </a:extLst>
          </p:cNvPr>
          <p:cNvSpPr/>
          <p:nvPr/>
        </p:nvSpPr>
        <p:spPr>
          <a:xfrm>
            <a:off x="9322341" y="284201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43A3C9-DAE7-4304-F09C-D1F22283186C}"/>
              </a:ext>
            </a:extLst>
          </p:cNvPr>
          <p:cNvSpPr/>
          <p:nvPr/>
        </p:nvSpPr>
        <p:spPr>
          <a:xfrm>
            <a:off x="9244586" y="216277"/>
            <a:ext cx="4461023" cy="570747"/>
          </a:xfrm>
          <a:prstGeom prst="roundRect">
            <a:avLst>
              <a:gd name="adj" fmla="val 709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noProof="0" dirty="0"/>
              <a:t>	En cours - </a:t>
            </a:r>
            <a:r>
              <a:rPr lang="fr-CA" dirty="0" err="1"/>
              <a:t>RaceCard</a:t>
            </a:r>
            <a:endParaRPr lang="fr-CA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67BF8F-E2CD-1EB9-E94A-FD68C47EF9EC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697D8B0-863F-80BA-5758-026958460EFE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10D45C0-8874-0963-0F1D-A0F5FBF77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F3049B-391D-B0D6-3635-ADB8B150F914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  <p:pic>
        <p:nvPicPr>
          <p:cNvPr id="4" name="Image 3" descr="Une image contenant capture d’écran, texte, diagramme, carte&#10;&#10;Le contenu généré par l’IA peut être incorrect.">
            <a:extLst>
              <a:ext uri="{FF2B5EF4-FFF2-40B4-BE49-F238E27FC236}">
                <a16:creationId xmlns:a16="http://schemas.microsoft.com/office/drawing/2014/main" id="{F86F3948-BF9C-A5D3-3BD6-57C7B6F18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872" y="1381205"/>
            <a:ext cx="7984256" cy="5058497"/>
          </a:xfrm>
          <a:prstGeom prst="rect">
            <a:avLst/>
          </a:prstGeom>
        </p:spPr>
      </p:pic>
      <p:pic>
        <p:nvPicPr>
          <p:cNvPr id="15" name="Image 14" descr="Une image contenant texte, capture d’écran, tableau&#10;&#10;Le contenu généré par l’IA peut être incorrect.">
            <a:extLst>
              <a:ext uri="{FF2B5EF4-FFF2-40B4-BE49-F238E27FC236}">
                <a16:creationId xmlns:a16="http://schemas.microsoft.com/office/drawing/2014/main" id="{5E3070E9-2306-DD28-B1F6-EAF67D6A8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036" y="2201385"/>
            <a:ext cx="3212164" cy="3418135"/>
          </a:xfrm>
          <a:prstGeom prst="roundRect">
            <a:avLst>
              <a:gd name="adj" fmla="val 12397"/>
            </a:avLst>
          </a:prstGeom>
        </p:spPr>
      </p:pic>
    </p:spTree>
    <p:extLst>
      <p:ext uri="{BB962C8B-B14F-4D97-AF65-F5344CB8AC3E}">
        <p14:creationId xmlns:p14="http://schemas.microsoft.com/office/powerpoint/2010/main" val="1124107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CEB6A-D9F6-0340-0ED8-FFE4CD7F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1F6B6A6-6A1C-8801-5165-4CB9E3F74E56}"/>
              </a:ext>
            </a:extLst>
          </p:cNvPr>
          <p:cNvSpPr/>
          <p:nvPr/>
        </p:nvSpPr>
        <p:spPr>
          <a:xfrm>
            <a:off x="-32328" y="508188"/>
            <a:ext cx="9809019" cy="867949"/>
          </a:xfrm>
          <a:prstGeom prst="roundRect">
            <a:avLst>
              <a:gd name="adj" fmla="val 709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76158B3-78DA-D996-F345-A0BC57CE1C5A}"/>
              </a:ext>
            </a:extLst>
          </p:cNvPr>
          <p:cNvSpPr/>
          <p:nvPr/>
        </p:nvSpPr>
        <p:spPr>
          <a:xfrm>
            <a:off x="-184728" y="355788"/>
            <a:ext cx="9809019" cy="867949"/>
          </a:xfrm>
          <a:prstGeom prst="roundRect">
            <a:avLst>
              <a:gd name="adj" fmla="val 7090"/>
            </a:avLst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A453F-FD89-8DD6-5859-DD1E9EFD3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34" y="355788"/>
            <a:ext cx="10515600" cy="877507"/>
          </a:xfrm>
        </p:spPr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FE3852-D00B-2AC2-6358-411DAB6C2D19}"/>
              </a:ext>
            </a:extLst>
          </p:cNvPr>
          <p:cNvGrpSpPr/>
          <p:nvPr/>
        </p:nvGrpSpPr>
        <p:grpSpPr>
          <a:xfrm>
            <a:off x="3581400" y="2013122"/>
            <a:ext cx="2042651" cy="1601569"/>
            <a:chOff x="1527482" y="2063170"/>
            <a:chExt cx="2042651" cy="160156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D4128714-CC7E-EF2C-C2D7-6A38D77DA348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32325D42-98AF-717E-178E-AFA01AB7B7B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2A37BA7D-F1AD-D3DF-0457-90949923F8B1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" name="Google Shape;296;p16">
              <a:extLst>
                <a:ext uri="{FF2B5EF4-FFF2-40B4-BE49-F238E27FC236}">
                  <a16:creationId xmlns:a16="http://schemas.microsoft.com/office/drawing/2014/main" id="{21B000F1-0091-BA2A-FE7B-44CB62773C25}"/>
                </a:ext>
              </a:extLst>
            </p:cNvPr>
            <p:cNvSpPr txBox="1"/>
            <p:nvPr/>
          </p:nvSpPr>
          <p:spPr>
            <a:xfrm>
              <a:off x="1527482" y="2693995"/>
              <a:ext cx="2033641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sz="1650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RaceCar</a:t>
              </a:r>
              <a:endParaRPr lang="fr-CA" sz="1650" noProof="0" dirty="0">
                <a:solidFill>
                  <a:srgbClr val="000000"/>
                </a:solidFill>
                <a:ea typeface="Open Sans"/>
                <a:cs typeface="Open San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4E2A1C-CA31-D215-EC34-12C7E40D0326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90BE51B-3749-464F-B14F-195CAD362687}"/>
              </a:ext>
            </a:extLst>
          </p:cNvPr>
          <p:cNvGrpSpPr/>
          <p:nvPr/>
        </p:nvGrpSpPr>
        <p:grpSpPr>
          <a:xfrm>
            <a:off x="5070862" y="3984530"/>
            <a:ext cx="2050276" cy="1600200"/>
            <a:chOff x="1518532" y="3847055"/>
            <a:chExt cx="2050276" cy="1600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9" name="Google Shape;290;p16">
              <a:extLst>
                <a:ext uri="{FF2B5EF4-FFF2-40B4-BE49-F238E27FC236}">
                  <a16:creationId xmlns:a16="http://schemas.microsoft.com/office/drawing/2014/main" id="{C3615364-CA9D-A6B3-9B4B-67FD643CBCF0}"/>
                </a:ext>
              </a:extLst>
            </p:cNvPr>
            <p:cNvGrpSpPr/>
            <p:nvPr/>
          </p:nvGrpSpPr>
          <p:grpSpPr>
            <a:xfrm>
              <a:off x="1526158" y="3847055"/>
              <a:ext cx="2042650" cy="1600200"/>
              <a:chOff x="0" y="0"/>
              <a:chExt cx="1200970" cy="812800"/>
            </a:xfrm>
          </p:grpSpPr>
          <p:sp>
            <p:nvSpPr>
              <p:cNvPr id="33" name="Google Shape;291;p16">
                <a:extLst>
                  <a:ext uri="{FF2B5EF4-FFF2-40B4-BE49-F238E27FC236}">
                    <a16:creationId xmlns:a16="http://schemas.microsoft.com/office/drawing/2014/main" id="{64DC1A94-C92F-8511-C33C-5938EC1F86EC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34" name="Google Shape;292;p16">
                <a:extLst>
                  <a:ext uri="{FF2B5EF4-FFF2-40B4-BE49-F238E27FC236}">
                    <a16:creationId xmlns:a16="http://schemas.microsoft.com/office/drawing/2014/main" id="{EB61A66B-7C84-9D65-8587-4D31947DB655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" name="Google Shape;296;p16">
              <a:extLst>
                <a:ext uri="{FF2B5EF4-FFF2-40B4-BE49-F238E27FC236}">
                  <a16:creationId xmlns:a16="http://schemas.microsoft.com/office/drawing/2014/main" id="{43E1F9DD-704B-30F2-EEE9-FEE0B09DB24D}"/>
                </a:ext>
              </a:extLst>
            </p:cNvPr>
            <p:cNvSpPr txBox="1"/>
            <p:nvPr/>
          </p:nvSpPr>
          <p:spPr>
            <a:xfrm>
              <a:off x="1518532" y="4531640"/>
              <a:ext cx="2042650" cy="5078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sz="1650" b="1" noProof="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Période de</a:t>
              </a:r>
              <a:br>
                <a:rPr lang="fr-CA" sz="1650" b="1" noProof="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</a:br>
              <a:r>
                <a:rPr lang="fr-CA" sz="1650" b="1" noProof="0" dirty="0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questions</a:t>
              </a:r>
              <a:endParaRPr lang="fr-CA" b="1" noProof="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D3FC8F-36BB-0400-8EC0-E72928D7E486}"/>
                </a:ext>
              </a:extLst>
            </p:cNvPr>
            <p:cNvSpPr/>
            <p:nvPr/>
          </p:nvSpPr>
          <p:spPr>
            <a:xfrm>
              <a:off x="1748041" y="3848067"/>
              <a:ext cx="431321" cy="5265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3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7568FD24-4580-53B6-8A57-E944A3D6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D454-CBA0-4F9B-9ACF-4C300E5E17EA}" type="datetime1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2026-01-04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25A29B7C-6A5F-3A31-DDD3-D8F980FB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 dirty="0">
                <a:solidFill>
                  <a:schemeClr val="bg1">
                    <a:lumMod val="95000"/>
                  </a:schemeClr>
                </a:solidFill>
              </a:rPr>
              <a:t>C3I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9231C87A-756B-25B3-BCCD-3F1A6254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fr-CA" noProof="0" smtClean="0">
                <a:solidFill>
                  <a:schemeClr val="bg1">
                    <a:lumMod val="95000"/>
                  </a:schemeClr>
                </a:solidFill>
              </a:rPr>
              <a:t>15</a:t>
            </a:fld>
            <a:endParaRPr lang="fr-CA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5EC8CA-4AB8-3BE2-BA10-BAD8B080B502}"/>
              </a:ext>
            </a:extLst>
          </p:cNvPr>
          <p:cNvGrpSpPr/>
          <p:nvPr/>
        </p:nvGrpSpPr>
        <p:grpSpPr>
          <a:xfrm>
            <a:off x="6563840" y="1979042"/>
            <a:ext cx="2046760" cy="1600199"/>
            <a:chOff x="6068201" y="2064540"/>
            <a:chExt cx="2046760" cy="16001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E62573B9-1A5C-CE3A-ABB1-8F08774138EA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3CD9DFB5-B039-3C91-D6BD-4787705CAD53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 noProof="0" dirty="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474DB756-5102-1475-4BAA-AA4ECED77DB8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lang="fr-CA" sz="1200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" name="Google Shape;296;p16">
              <a:extLst>
                <a:ext uri="{FF2B5EF4-FFF2-40B4-BE49-F238E27FC236}">
                  <a16:creationId xmlns:a16="http://schemas.microsoft.com/office/drawing/2014/main" id="{ED38B10B-C672-9EFB-C96B-9B5B16E3202D}"/>
                </a:ext>
              </a:extLst>
            </p:cNvPr>
            <p:cNvSpPr txBox="1"/>
            <p:nvPr/>
          </p:nvSpPr>
          <p:spPr>
            <a:xfrm>
              <a:off x="6068201" y="2706918"/>
              <a:ext cx="2039134" cy="25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fr-CA" sz="1650" dirty="0" err="1">
                  <a:solidFill>
                    <a:srgbClr val="000000"/>
                  </a:solidFill>
                  <a:ea typeface="Open Sans"/>
                  <a:cs typeface="Open Sans"/>
                  <a:sym typeface="Open Sans"/>
                </a:rPr>
                <a:t>RaceCard</a:t>
              </a:r>
              <a:endParaRPr lang="fr-CA" noProof="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6BD99B-E6E9-53A4-258E-6154EEE32208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noProof="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492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076E-BC2A-40E6-F59E-CB47D179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AB91B-1AC3-DF31-75E0-6945587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CA" sz="52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Période de questions</a:t>
            </a:r>
          </a:p>
        </p:txBody>
      </p:sp>
      <p:pic>
        <p:nvPicPr>
          <p:cNvPr id="12" name="Graphic 11" descr="Help">
            <a:extLst>
              <a:ext uri="{FF2B5EF4-FFF2-40B4-BE49-F238E27FC236}">
                <a16:creationId xmlns:a16="http://schemas.microsoft.com/office/drawing/2014/main" id="{57697A07-0A58-4A1D-B34A-ABFB05E18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038387D6-17AD-6BF5-0CC1-C5797403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fld id="{F8E28480-1C08-4458-AD97-0283E6FFD09D}" type="slidenum">
              <a:rPr lang="fr-CA" noProof="0" smtClean="0">
                <a:solidFill>
                  <a:schemeClr val="tx1">
                    <a:tint val="75000"/>
                  </a:schemeClr>
                </a:solidFill>
              </a:rPr>
              <a:pPr algn="ctr" defTabSz="914400">
                <a:spcAft>
                  <a:spcPts val="600"/>
                </a:spcAft>
              </a:pPr>
              <a:t>16</a:t>
            </a:fld>
            <a:endParaRPr lang="fr-CA" noProof="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F163D-71EA-EC55-E687-26A2C830F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C413-065C-486F-8BD7-AB2E1097F5B0}" type="datetime1">
              <a:rPr lang="fr-CA" noProof="0" smtClean="0"/>
              <a:t>2026-01-04</a:t>
            </a:fld>
            <a:endParaRPr lang="fr-CA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D1A47-045A-F6FD-F944-AB35C92FC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noProof="0" dirty="0">
                <a:solidFill>
                  <a:schemeClr val="tx1"/>
                </a:solidFill>
              </a:rPr>
              <a:t>C3I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3AAA5D-E415-4780-BA76-B77C3DBDA0BF}"/>
              </a:ext>
            </a:extLst>
          </p:cNvPr>
          <p:cNvGrpSpPr/>
          <p:nvPr/>
        </p:nvGrpSpPr>
        <p:grpSpPr>
          <a:xfrm>
            <a:off x="10720217" y="5693106"/>
            <a:ext cx="1646137" cy="1409378"/>
            <a:chOff x="10720217" y="5693106"/>
            <a:chExt cx="1646137" cy="140937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920C8E2-D010-90EC-1771-CAE921AA4F34}"/>
                </a:ext>
              </a:extLst>
            </p:cNvPr>
            <p:cNvSpPr/>
            <p:nvPr/>
          </p:nvSpPr>
          <p:spPr>
            <a:xfrm>
              <a:off x="10995104" y="5776920"/>
              <a:ext cx="1371250" cy="13255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noProof="0" dirty="0"/>
            </a:p>
          </p:txBody>
        </p:sp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4052C32-2051-83B3-A35D-583395DA5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53800" y="6157930"/>
              <a:ext cx="653857" cy="5635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DD1B67-C473-C1B6-761D-EA8E4673F06E}"/>
                </a:ext>
              </a:extLst>
            </p:cNvPr>
            <p:cNvSpPr/>
            <p:nvPr/>
          </p:nvSpPr>
          <p:spPr>
            <a:xfrm rot="19318248">
              <a:off x="10720217" y="5693106"/>
              <a:ext cx="1428983" cy="108430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12726505"/>
                </a:avLst>
              </a:prstTxWarp>
              <a:spAutoFit/>
            </a:bodyPr>
            <a:lstStyle/>
            <a:p>
              <a:pPr algn="ctr"/>
              <a:r>
                <a:rPr lang="fr-CA" sz="1600" b="0" cap="none" spc="0" noProof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 Mono" panose="00000009000000000000" pitchFamily="50" charset="0"/>
                  <a:ea typeface="Roboto Mono" panose="00000009000000000000" pitchFamily="50" charset="0"/>
                </a:rPr>
                <a:t>De l’idée au PCB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3484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3I">
      <a:dk1>
        <a:sysClr val="windowText" lastClr="000000"/>
      </a:dk1>
      <a:lt1>
        <a:sysClr val="window" lastClr="FFFFFF"/>
      </a:lt1>
      <a:dk2>
        <a:srgbClr val="00272B"/>
      </a:dk2>
      <a:lt2>
        <a:srgbClr val="BAC1B8"/>
      </a:lt2>
      <a:accent1>
        <a:srgbClr val="447604"/>
      </a:accent1>
      <a:accent2>
        <a:srgbClr val="345903"/>
      </a:accent2>
      <a:accent3>
        <a:srgbClr val="00272B"/>
      </a:accent3>
      <a:accent4>
        <a:srgbClr val="001214"/>
      </a:accent4>
      <a:accent5>
        <a:srgbClr val="58A4B0"/>
      </a:accent5>
      <a:accent6>
        <a:srgbClr val="721817"/>
      </a:accent6>
      <a:hlink>
        <a:srgbClr val="447604"/>
      </a:hlink>
      <a:folHlink>
        <a:srgbClr val="92D050"/>
      </a:folHlink>
    </a:clrScheme>
    <a:fontScheme name="C3I UDES">
      <a:majorFont>
        <a:latin typeface="Amasis MT Pro Black"/>
        <a:ea typeface=""/>
        <a:cs typeface=""/>
      </a:majorFont>
      <a:minorFont>
        <a:latin typeface="Duru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BCB8DB02F314E9B33D47D2328BEE3" ma:contentTypeVersion="11" ma:contentTypeDescription="Crée un document." ma:contentTypeScope="" ma:versionID="5b2e1a836ff712ef80aad2b296adbacb">
  <xsd:schema xmlns:xsd="http://www.w3.org/2001/XMLSchema" xmlns:xs="http://www.w3.org/2001/XMLSchema" xmlns:p="http://schemas.microsoft.com/office/2006/metadata/properties" xmlns:ns2="3ab60a15-fb7d-489d-9e0d-4f2626c05be0" xmlns:ns3="05dc0aba-4466-4464-ae54-e30ec1d1960e" targetNamespace="http://schemas.microsoft.com/office/2006/metadata/properties" ma:root="true" ma:fieldsID="6512913270d633806367ba69f1c70368" ns2:_="" ns3:_="">
    <xsd:import namespace="3ab60a15-fb7d-489d-9e0d-4f2626c05be0"/>
    <xsd:import namespace="05dc0aba-4466-4464-ae54-e30ec1d19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60a15-fb7d-489d-9e0d-4f2626c05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d264a842-8adc-43f3-ad4e-91e5e271ce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dc0aba-4466-4464-ae54-e30ec1d1960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e276286-86e1-408e-aafb-3d2652486757}" ma:internalName="TaxCatchAll" ma:showField="CatchAllData" ma:web="05dc0aba-4466-4464-ae54-e30ec1d196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dc0aba-4466-4464-ae54-e30ec1d1960e" xsi:nil="true"/>
    <lcf76f155ced4ddcb4097134ff3c332f xmlns="3ab60a15-fb7d-489d-9e0d-4f2626c05be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7EF4F5B-3D68-4620-BD20-CE11F7C982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b60a15-fb7d-489d-9e0d-4f2626c05be0"/>
    <ds:schemaRef ds:uri="05dc0aba-4466-4464-ae54-e30ec1d196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DB640A-2F1B-4996-A426-5EBBD323EB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692212-F3B5-4029-A938-C4EA9EF8FAAE}">
  <ds:schemaRefs>
    <ds:schemaRef ds:uri="05dc0aba-4466-4464-ae54-e30ec1d1960e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3ab60a15-fb7d-489d-9e0d-4f2626c05be0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4434</TotalTime>
  <Words>227</Words>
  <Application>Microsoft Office PowerPoint</Application>
  <PresentationFormat>Grand écran</PresentationFormat>
  <Paragraphs>105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5" baseType="lpstr">
      <vt:lpstr>Amasis MT Pro</vt:lpstr>
      <vt:lpstr>Amasis MT Pro Black</vt:lpstr>
      <vt:lpstr>Aptos</vt:lpstr>
      <vt:lpstr>Arial</vt:lpstr>
      <vt:lpstr>Calibri</vt:lpstr>
      <vt:lpstr>Duru Sans</vt:lpstr>
      <vt:lpstr>Open Sans</vt:lpstr>
      <vt:lpstr>Roboto Mono</vt:lpstr>
      <vt:lpstr>Office Theme</vt:lpstr>
      <vt:lpstr>Présentation PowerPoint</vt:lpstr>
      <vt:lpstr>Présentation Générale du mandat/objectif de la présentation</vt:lpstr>
      <vt:lpstr>Déroulement de la présentation</vt:lpstr>
      <vt:lpstr>STM32</vt:lpstr>
      <vt:lpstr>Alimentation</vt:lpstr>
      <vt:lpstr>Communication sans-fil</vt:lpstr>
      <vt:lpstr>Circuit complet</vt:lpstr>
      <vt:lpstr>Déroulement de la présentation</vt:lpstr>
      <vt:lpstr>STM32</vt:lpstr>
      <vt:lpstr>Boutons tactiles</vt:lpstr>
      <vt:lpstr>Alimentation</vt:lpstr>
      <vt:lpstr>Communication sans-fil</vt:lpstr>
      <vt:lpstr>Circuit complet</vt:lpstr>
      <vt:lpstr>PCB (En cours…)</vt:lpstr>
      <vt:lpstr>Déroulement de la présentation</vt:lpstr>
      <vt:lpstr>Période de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Miriam Caisse</dc:creator>
  <cp:lastModifiedBy>Hugo Brunelle</cp:lastModifiedBy>
  <cp:revision>41</cp:revision>
  <dcterms:created xsi:type="dcterms:W3CDTF">2024-06-25T23:20:03Z</dcterms:created>
  <dcterms:modified xsi:type="dcterms:W3CDTF">2026-01-05T04:55:06Z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0x010100873BCB8DB02F314E9B33D47D2328BEE3</vt:lpwstr>
  </property>
  <property fmtid="{D5CDD505-2E9C-101B-9397-08002B2CF9AE}" pid="3" name="Order">
    <vt:r8>4781600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ediaServiceImageTags">
    <vt:lpwstr/>
  </property>
</Properties>
</file>